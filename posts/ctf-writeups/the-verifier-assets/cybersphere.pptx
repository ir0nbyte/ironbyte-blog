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3856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4128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3856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4128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3856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694944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4128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3856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585216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944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804672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914400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4128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3856" y="466344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6967728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077456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187184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296912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406640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516368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7626096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6967728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1" name="Shape 59"/>
          <p:cNvSpPr/>
          <p:nvPr/>
        </p:nvSpPr>
        <p:spPr>
          <a:xfrm>
            <a:off x="7077456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2" name="Shape 60"/>
          <p:cNvSpPr/>
          <p:nvPr/>
        </p:nvSpPr>
        <p:spPr>
          <a:xfrm>
            <a:off x="7187184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3" name="Shape 61"/>
          <p:cNvSpPr/>
          <p:nvPr/>
        </p:nvSpPr>
        <p:spPr>
          <a:xfrm>
            <a:off x="7296912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4" name="Shape 62"/>
          <p:cNvSpPr/>
          <p:nvPr/>
        </p:nvSpPr>
        <p:spPr>
          <a:xfrm>
            <a:off x="7406640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5" name="Shape 63"/>
          <p:cNvSpPr/>
          <p:nvPr/>
        </p:nvSpPr>
        <p:spPr>
          <a:xfrm>
            <a:off x="7516368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6" name="Shape 64"/>
          <p:cNvSpPr/>
          <p:nvPr/>
        </p:nvSpPr>
        <p:spPr>
          <a:xfrm>
            <a:off x="7626096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7" name="Shape 65"/>
          <p:cNvSpPr/>
          <p:nvPr/>
        </p:nvSpPr>
        <p:spPr>
          <a:xfrm>
            <a:off x="6858000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8" name="Shape 66"/>
          <p:cNvSpPr/>
          <p:nvPr/>
        </p:nvSpPr>
        <p:spPr>
          <a:xfrm>
            <a:off x="6967728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9" name="Shape 67"/>
          <p:cNvSpPr/>
          <p:nvPr/>
        </p:nvSpPr>
        <p:spPr>
          <a:xfrm>
            <a:off x="7077456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0" name="Shape 68"/>
          <p:cNvSpPr/>
          <p:nvPr/>
        </p:nvSpPr>
        <p:spPr>
          <a:xfrm>
            <a:off x="7187184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Shape 69"/>
          <p:cNvSpPr/>
          <p:nvPr/>
        </p:nvSpPr>
        <p:spPr>
          <a:xfrm>
            <a:off x="7296912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2" name="Shape 70"/>
          <p:cNvSpPr/>
          <p:nvPr/>
        </p:nvSpPr>
        <p:spPr>
          <a:xfrm>
            <a:off x="7406640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3" name="Shape 71"/>
          <p:cNvSpPr/>
          <p:nvPr/>
        </p:nvSpPr>
        <p:spPr>
          <a:xfrm>
            <a:off x="7516368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4" name="Shape 72"/>
          <p:cNvSpPr/>
          <p:nvPr/>
        </p:nvSpPr>
        <p:spPr>
          <a:xfrm>
            <a:off x="7626096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5" name="Shape 73"/>
          <p:cNvSpPr/>
          <p:nvPr/>
        </p:nvSpPr>
        <p:spPr>
          <a:xfrm>
            <a:off x="6858000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6" name="Shape 74"/>
          <p:cNvSpPr/>
          <p:nvPr/>
        </p:nvSpPr>
        <p:spPr>
          <a:xfrm>
            <a:off x="6967728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7" name="Shape 75"/>
          <p:cNvSpPr/>
          <p:nvPr/>
        </p:nvSpPr>
        <p:spPr>
          <a:xfrm>
            <a:off x="7077456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8" name="Shape 76"/>
          <p:cNvSpPr/>
          <p:nvPr/>
        </p:nvSpPr>
        <p:spPr>
          <a:xfrm>
            <a:off x="7187184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9" name="Shape 77"/>
          <p:cNvSpPr/>
          <p:nvPr/>
        </p:nvSpPr>
        <p:spPr>
          <a:xfrm>
            <a:off x="7296912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0" name="Shape 78"/>
          <p:cNvSpPr/>
          <p:nvPr/>
        </p:nvSpPr>
        <p:spPr>
          <a:xfrm>
            <a:off x="7406640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1" name="Shape 79"/>
          <p:cNvSpPr/>
          <p:nvPr/>
        </p:nvSpPr>
        <p:spPr>
          <a:xfrm>
            <a:off x="7516368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2" name="Shape 80"/>
          <p:cNvSpPr/>
          <p:nvPr/>
        </p:nvSpPr>
        <p:spPr>
          <a:xfrm>
            <a:off x="7626096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3" name="Shape 81"/>
          <p:cNvSpPr/>
          <p:nvPr/>
        </p:nvSpPr>
        <p:spPr>
          <a:xfrm>
            <a:off x="6858000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4" name="Shape 82"/>
          <p:cNvSpPr/>
          <p:nvPr/>
        </p:nvSpPr>
        <p:spPr>
          <a:xfrm>
            <a:off x="6967728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5" name="Shape 83"/>
          <p:cNvSpPr/>
          <p:nvPr/>
        </p:nvSpPr>
        <p:spPr>
          <a:xfrm>
            <a:off x="7077456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6" name="Shape 84"/>
          <p:cNvSpPr/>
          <p:nvPr/>
        </p:nvSpPr>
        <p:spPr>
          <a:xfrm>
            <a:off x="7187184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7" name="Shape 85"/>
          <p:cNvSpPr/>
          <p:nvPr/>
        </p:nvSpPr>
        <p:spPr>
          <a:xfrm>
            <a:off x="7296912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8" name="Shape 86"/>
          <p:cNvSpPr/>
          <p:nvPr/>
        </p:nvSpPr>
        <p:spPr>
          <a:xfrm>
            <a:off x="7406640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9" name="Shape 87"/>
          <p:cNvSpPr/>
          <p:nvPr/>
        </p:nvSpPr>
        <p:spPr>
          <a:xfrm>
            <a:off x="7516368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0" name="Shape 88"/>
          <p:cNvSpPr/>
          <p:nvPr/>
        </p:nvSpPr>
        <p:spPr>
          <a:xfrm>
            <a:off x="7626096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1" name="Shape 89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2" name="Shape 90"/>
          <p:cNvSpPr/>
          <p:nvPr/>
        </p:nvSpPr>
        <p:spPr>
          <a:xfrm>
            <a:off x="6967728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3" name="Shape 91"/>
          <p:cNvSpPr/>
          <p:nvPr/>
        </p:nvSpPr>
        <p:spPr>
          <a:xfrm>
            <a:off x="7077456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4" name="Shape 92"/>
          <p:cNvSpPr/>
          <p:nvPr/>
        </p:nvSpPr>
        <p:spPr>
          <a:xfrm>
            <a:off x="7187184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5" name="Shape 93"/>
          <p:cNvSpPr/>
          <p:nvPr/>
        </p:nvSpPr>
        <p:spPr>
          <a:xfrm>
            <a:off x="7296912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6" name="Shape 94"/>
          <p:cNvSpPr/>
          <p:nvPr/>
        </p:nvSpPr>
        <p:spPr>
          <a:xfrm>
            <a:off x="7406640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7" name="Shape 95"/>
          <p:cNvSpPr/>
          <p:nvPr/>
        </p:nvSpPr>
        <p:spPr>
          <a:xfrm>
            <a:off x="7516368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8" name="Shape 96"/>
          <p:cNvSpPr/>
          <p:nvPr/>
        </p:nvSpPr>
        <p:spPr>
          <a:xfrm>
            <a:off x="7626096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9" name="Shape 97"/>
          <p:cNvSpPr/>
          <p:nvPr/>
        </p:nvSpPr>
        <p:spPr>
          <a:xfrm>
            <a:off x="365760" y="1097280"/>
            <a:ext cx="2377440" cy="292608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00" name="Text 98"/>
          <p:cNvSpPr/>
          <p:nvPr/>
        </p:nvSpPr>
        <p:spPr>
          <a:xfrm>
            <a:off x="36576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SECURITY RESEARCH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65760" y="16459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AFRICA'S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TERMINALS</a:t>
            </a:r>
            <a:endParaRPr lang="en-US" sz="4200" dirty="0"/>
          </a:p>
        </p:txBody>
      </p:sp>
      <p:sp>
        <p:nvSpPr>
          <p:cNvPr id="102" name="Text 100"/>
          <p:cNvSpPr/>
          <p:nvPr/>
        </p:nvSpPr>
        <p:spPr>
          <a:xfrm>
            <a:off x="36576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vulnerabilities. Real devices. Real money.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infrastructure we built to fix it.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3657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YinkoShield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  |  Yinkozi Group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2926080" y="4480560"/>
            <a:ext cx="3200400" cy="411480"/>
          </a:xfrm>
          <a:prstGeom prst="rect">
            <a:avLst/>
          </a:prstGeom>
          <a:solidFill>
            <a:srgbClr val="0D0D0D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2608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33333"/>
                </a:solidFill>
              </a:rPr>
              <a:t>CONFIDENTIAL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45720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417320"/>
            <a:ext cx="365760" cy="3657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payment landscape and its challenges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2011680"/>
            <a:ext cx="45720" cy="4572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2057400"/>
            <a:ext cx="365760" cy="36576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demonstrations on POS devices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2651760"/>
            <a:ext cx="45720" cy="45720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2697480"/>
            <a:ext cx="365760" cy="3657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blind spot nobody is talking about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28800" y="3291840"/>
            <a:ext cx="457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3337560"/>
            <a:ext cx="365760" cy="36576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YinkoShield changes the game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28800" y="3931920"/>
            <a:ext cx="45720" cy="457200"/>
          </a:xfrm>
          <a:prstGeom prst="rect">
            <a:avLst/>
          </a:prstGeom>
          <a:solidFill>
            <a:srgbClr val="D500F9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3977640"/>
            <a:ext cx="365760" cy="365760"/>
          </a:xfrm>
          <a:prstGeom prst="ellipse">
            <a:avLst/>
          </a:prstGeom>
          <a:solidFill>
            <a:srgbClr val="D500F9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verify on your own devices today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Context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controlled lab. This is production reality.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600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on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acquirer network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600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9456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Android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configurations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600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impacted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cellular retry events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512064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54864" cy="109728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shedding. Poor cellular coverage. Unreliable connectivity.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African markets, these are not edge cases.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standard operating conditions for every payment terminal in the field.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2048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51776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461504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571232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790688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351776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61504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32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790688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242048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351776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461504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571232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790688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242048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351776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461504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71232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790688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132320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242048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351776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461504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571232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680960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790688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029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Every payment transaction involves multiple independent nodes exchanging messages across unreliable networks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POS device holds local state, performs local computation, and can experience failure independently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When the network drops mid-transaction, the device accumulates local state and retries. The backend must reconcile state it never observed.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029200" cy="64008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749040"/>
            <a:ext cx="54864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knows what it received. It has never known what happened on the device.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42048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51776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461504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571232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0688" y="34747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2048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1504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571232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790688" y="35844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2048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351776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461504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571232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790688" y="36941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0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42048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351776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461504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571232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790688" y="38039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0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242048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351776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461504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571232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0960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790688" y="39136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The payment industry secured every layer except 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029200" cy="3657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Partition handling today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Message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keys, deduplication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transactions, event sourcing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Rail / Credential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cryptogram, tokenization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5029200" cy="457200"/>
          </a:xfrm>
          <a:prstGeom prst="rect">
            <a:avLst/>
          </a:prstGeom>
          <a:solidFill>
            <a:srgbClr val="FFEBEE"/>
          </a:solidFill>
          <a:ln w="19050">
            <a:solidFill>
              <a:srgbClr val="FF1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Execution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mechanism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validates the credential. 3DS validates the authentication moment.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validate what the device did between checkpoints.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execution interval is where fraud happens.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1776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1504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790688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0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242048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351776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461504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571232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0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790688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0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242048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351776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1504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571232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0960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790688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132320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242048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461504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571232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680960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790688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132320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242048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7351776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7461504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7571232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1" name="Shape 59"/>
          <p:cNvSpPr/>
          <p:nvPr/>
        </p:nvSpPr>
        <p:spPr>
          <a:xfrm>
            <a:off x="7680960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2" name="Shape 60"/>
          <p:cNvSpPr/>
          <p:nvPr/>
        </p:nvSpPr>
        <p:spPr>
          <a:xfrm>
            <a:off x="7790688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Systematic vulnerabilities across multiple POS manufacturers deployed in Africa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TMS Takeover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auth bypass lets attacker push malicious updates to entire fleet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4592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Kiosk Escape + USB Debug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USB keyboard breaks kiosk mode, gives full Android shell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Hardcoded Credentials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keys, AWS secrets, cloud tokens shipped in cleartext APKs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9748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9748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Man-in-the-Middle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fallback with no cert pinning allows full traffic interception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Transaction Manipulation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changes payment amount and destination in real 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402336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49040"/>
            <a:ext cx="45720" cy="9144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Zygote Injection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Android lets attacker read every app's memory at once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ATTACK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Management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Takeover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finds TMS endpoint — publicly exposed, no IP restriction or firewall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uses device serial number only — printed on a sticker on the back of the terminal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authenticates as the device, uploads a trojanized payment application as an update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611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pulls update on next boot. Attacker now owns the payment flow.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ATTACK 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Mode Escape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a standard USB keyboard into the POS terminal. Cost: ~$5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keyboard shortcuts to trigger Wi-Fi settings, break out into Android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Developer Options. Enable USB Debugging.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laptop via USB. Run adb shell. Command line on a production payment terminal.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36576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023360"/>
            <a:ext cx="502920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this attack: one USB keyboard from any electronics shop.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ATTACK 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Found inside production APKs shipped on POS devices. In cleartext.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5029200" cy="1645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com/vendor/payment/config/ApiConfig.java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1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BANK_API_KEY = "sk_live_4eC39HqLy..."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1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AWS_ACCESS_KEY = "AKIA3SGQVQG7FGA..."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1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AWS_SECRET = "wJalrXUtnFEMI/K7..."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Compiled into every APK shipped to thousands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5029200" cy="7315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474720"/>
            <a:ext cx="54864" cy="7315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Bank back-office API access. Cloud infrastructure control.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credentials once and own the backend forever.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ATTACK 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48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1744"/>
                </a:solidFill>
              </a:rPr>
              <a:t>The most dangerous finding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taps card to pay R500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sends payment via HTTP cleartext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274320" cy="274320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432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intercepts: R500 → R5,000 | merchant → attacker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871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processes modified request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274320" cy="27432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shows "R500 Approved" to customer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5029200" cy="502920"/>
          </a:xfrm>
          <a:prstGeom prst="rect">
            <a:avLst/>
          </a:prstGeom>
          <a:solidFill>
            <a:srgbClr val="2D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40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sees: R500 approved. Actually charged: R5,000. Money sent to: attacker.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ATTACK 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 Injection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1744"/>
                </a:solidFill>
              </a:rPr>
              <a:t>The nuclear option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029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2920" y="146304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Zygote is the parent process of every Android application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Inject code into Zygote = every app inherits the attacker's code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Payment app, banking SDK, compliance monitoring — all compromised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Compliance checks still pass — the SDK runs the injected code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It reports "all clear" because it cannot observe its own compromise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029200" cy="594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657600"/>
            <a:ext cx="54864" cy="59436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57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nothing can detect this from inside the compromised environment.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is Moving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Africa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029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+ 86% surge in banking trojans targeting Africa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Gold Digger, Gold Father malware families stealing millions annually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Asian malware groups proven in Vietnam now targeting African banks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Ethiopia going full digital payments — 120M people entering the ecosystem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Small number of banks own massive user bases — one breach = millions affected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502920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840480"/>
            <a:ext cx="54864" cy="5486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per breach in Africa is larger than almost anywhere else.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Category: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Coherence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029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Network partition handling has a name: idempotency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Backend reconciliation has a name: event sourcing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Credential validation has a name: EMV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Device execution coherence has no name — because it has no implementation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defining properties: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28600" cy="2286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path, not execution 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228600" cy="2286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on demand, not real-time observation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28600" cy="2286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trajectory, not just correct 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228600" cy="2286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43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proof, not heuristic inference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2048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351776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571232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790688" y="384048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0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242048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1776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461504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571232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790688" y="395020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0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242048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351776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461504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571232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0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0688" y="405993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2320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242048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351776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571232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0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790688" y="416966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132320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242048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351776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461504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571232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680960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790688" y="427939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Runtime Coherence Enables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2D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434840" y="1005840"/>
            <a:ext cx="4297680" cy="411480"/>
          </a:xfrm>
          <a:prstGeom prst="rect">
            <a:avLst/>
          </a:prstGeom>
          <a:solidFill>
            <a:srgbClr val="001A0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</a:rPr>
              <a:t>Without runtime coherence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628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With runtime coherence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3192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417320"/>
            <a:ext cx="429768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Transaction ambiguity resolved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by inference from received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14173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Resolved by cryptographic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reconstruction of execution path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393192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1984248"/>
            <a:ext cx="42976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8424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Ghost transactions declined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conservatively or manual review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19842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Identified deterministically via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tctx, retry safely processed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393192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2551176"/>
            <a:ext cx="429768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511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Disputes resolved by credibility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judgment between logs and claim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5511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Resolved against signed,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hash-linked execution record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393192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3118104"/>
            <a:ext cx="42976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1810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Device trust assumed between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attestation checkpoints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1181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Runtime integrity validated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every execution step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85032"/>
            <a:ext cx="393192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3685032"/>
            <a:ext cx="429768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8503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Policy changes require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device redeployment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36850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Policy takes effect immediately: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evidence re-evaluated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393192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4434840" y="4251960"/>
            <a:ext cx="42976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519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Autonomous execution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unauditable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42519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Produces verifiable record 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conditions at decision time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Ghost Transaction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Approval Rate Recovery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taps card. POS sends payment. Backend processes it.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Network drops before confirmation reaches device.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Device retries. Backend sees two identical requests.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2423160" cy="11887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286000"/>
            <a:ext cx="2423160" cy="320040"/>
          </a:xfrm>
          <a:prstGeom prst="rect">
            <a:avLst/>
          </a:prstGeom>
          <a:solidFill>
            <a:srgbClr val="2D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744"/>
                </a:solidFill>
              </a:rPr>
              <a:t>Without YinkoShield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Backend declines or double-charges.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Customer frustrated.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Merchant loses the sale.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286000"/>
            <a:ext cx="2468880" cy="11887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286000"/>
            <a:ext cx="2468880" cy="320040"/>
          </a:xfrm>
          <a:prstGeom prst="rect">
            <a:avLst/>
          </a:prstGeom>
          <a:solidFill>
            <a:srgbClr val="001A0D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With YinkoShield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Retry carries signed token.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Same tctx, correct order.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Backend verifies and approves.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5029200" cy="59436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749040"/>
            <a:ext cx="54864" cy="5943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49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3-8% of cellular transactions experience retry events.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unnecessary decline is a lost sale or a support call.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YinkoShield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Game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Trusted Runtime Primitive operates at syscall level, below the application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Evidence Token (~200-300 bytes) travels as HTTP header — zero infrastructure change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Local Evidence Ledger: append-only, hash-linked, tamper-evident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Sovereign verification: any party with device public key can verify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Policy-execution decoupling: evidence on device, policy evaluated elsewhere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across Android, iOS, POS, SoftPOS — 13,000+ hardware configurations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5029200" cy="4572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 evidence. You decide.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Networks.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0A1F1A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92608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production. On your networks.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 March 2026, one of South Africa's largest retail banks publicly launched Pulse AI, a real-time support intelligence system built on YinkoShield signals. In production across 25 million clients, on the same cellular networks you operate 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built on these signals is their decision.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 is yours. The signal infrastructure is the same.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56032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Clients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production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56032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Device configs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56032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 bytes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Per evidence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666666"/>
                </a:solidFill>
              </a:rPr>
              <a:t>token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Verify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Devices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463040" cy="228600"/>
          </a:xfrm>
          <a:prstGeom prst="rect">
            <a:avLst/>
          </a:prstGeom>
          <a:solidFill>
            <a:srgbClr val="D500F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ACTION ITEMS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TMS endpoint publicly accessible?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auth based on serial numbers?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USB keyboard escape your kiosk mode?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API keys hardcoded in your APKs?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app fall back to HTTP?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certificate pinning enforced?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Android version are your deployed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 running?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your compliance SDK detect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compromise?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502920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297680"/>
            <a:ext cx="54864" cy="4572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findings from devices deployed across Africa right now.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204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351776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571232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790688" y="36576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724204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1776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461504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571232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790688" y="37673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24204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7351776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7461504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7571232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0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0688" y="38770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232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724204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351776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7571232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0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790688" y="39867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13232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724204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351776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461504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7571232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7680960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7790688" y="40965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7882128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7991856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8101584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8211312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8430768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" name="Shape 7"/>
          <p:cNvSpPr/>
          <p:nvPr/>
        </p:nvSpPr>
        <p:spPr>
          <a:xfrm>
            <a:off x="8540496" y="27432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7882128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1856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11312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0768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0496" y="38404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882128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991856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11312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30768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0496" y="49377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7882128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991856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1584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1312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8430768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8540496" y="60350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0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7882128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Shape 34"/>
          <p:cNvSpPr/>
          <p:nvPr/>
        </p:nvSpPr>
        <p:spPr>
          <a:xfrm>
            <a:off x="7991856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1584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8211312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8321040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8"/>
          <p:cNvSpPr/>
          <p:nvPr/>
        </p:nvSpPr>
        <p:spPr>
          <a:xfrm>
            <a:off x="8430768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8540496" y="71323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7882128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Shape 42"/>
          <p:cNvSpPr/>
          <p:nvPr/>
        </p:nvSpPr>
        <p:spPr>
          <a:xfrm>
            <a:off x="7991856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8101584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8211312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8321040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8430768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8540496" y="82296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676656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51"/>
          <p:cNvSpPr/>
          <p:nvPr/>
        </p:nvSpPr>
        <p:spPr>
          <a:xfrm>
            <a:off x="786384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896112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5840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1115568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1225296" y="4114800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457200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>
            <a:off x="566928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676656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1" name="Shape 59"/>
          <p:cNvSpPr/>
          <p:nvPr/>
        </p:nvSpPr>
        <p:spPr>
          <a:xfrm>
            <a:off x="786384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2" name="Shape 60"/>
          <p:cNvSpPr/>
          <p:nvPr/>
        </p:nvSpPr>
        <p:spPr>
          <a:xfrm>
            <a:off x="896112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3" name="Shape 61"/>
          <p:cNvSpPr/>
          <p:nvPr/>
        </p:nvSpPr>
        <p:spPr>
          <a:xfrm>
            <a:off x="1005840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5568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5" name="Shape 63"/>
          <p:cNvSpPr/>
          <p:nvPr/>
        </p:nvSpPr>
        <p:spPr>
          <a:xfrm>
            <a:off x="1225296" y="4224528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6" name="Shape 64"/>
          <p:cNvSpPr/>
          <p:nvPr/>
        </p:nvSpPr>
        <p:spPr>
          <a:xfrm>
            <a:off x="457200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7" name="Shape 65"/>
          <p:cNvSpPr/>
          <p:nvPr/>
        </p:nvSpPr>
        <p:spPr>
          <a:xfrm>
            <a:off x="566928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8" name="Shape 66"/>
          <p:cNvSpPr/>
          <p:nvPr/>
        </p:nvSpPr>
        <p:spPr>
          <a:xfrm>
            <a:off x="676656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9" name="Shape 67"/>
          <p:cNvSpPr/>
          <p:nvPr/>
        </p:nvSpPr>
        <p:spPr>
          <a:xfrm>
            <a:off x="786384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0" name="Shape 68"/>
          <p:cNvSpPr/>
          <p:nvPr/>
        </p:nvSpPr>
        <p:spPr>
          <a:xfrm>
            <a:off x="896112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Shape 69"/>
          <p:cNvSpPr/>
          <p:nvPr/>
        </p:nvSpPr>
        <p:spPr>
          <a:xfrm>
            <a:off x="1005840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2" name="Shape 70"/>
          <p:cNvSpPr/>
          <p:nvPr/>
        </p:nvSpPr>
        <p:spPr>
          <a:xfrm>
            <a:off x="1115568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3" name="Shape 71"/>
          <p:cNvSpPr/>
          <p:nvPr/>
        </p:nvSpPr>
        <p:spPr>
          <a:xfrm>
            <a:off x="1225296" y="4334256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4" name="Shape 72"/>
          <p:cNvSpPr/>
          <p:nvPr/>
        </p:nvSpPr>
        <p:spPr>
          <a:xfrm>
            <a:off x="457200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5" name="Shape 73"/>
          <p:cNvSpPr/>
          <p:nvPr/>
        </p:nvSpPr>
        <p:spPr>
          <a:xfrm>
            <a:off x="566928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6" name="Shape 74"/>
          <p:cNvSpPr/>
          <p:nvPr/>
        </p:nvSpPr>
        <p:spPr>
          <a:xfrm>
            <a:off x="676656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7" name="Shape 75"/>
          <p:cNvSpPr/>
          <p:nvPr/>
        </p:nvSpPr>
        <p:spPr>
          <a:xfrm>
            <a:off x="786384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8" name="Shape 76"/>
          <p:cNvSpPr/>
          <p:nvPr/>
        </p:nvSpPr>
        <p:spPr>
          <a:xfrm>
            <a:off x="896112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9" name="Shape 77"/>
          <p:cNvSpPr/>
          <p:nvPr/>
        </p:nvSpPr>
        <p:spPr>
          <a:xfrm>
            <a:off x="1005840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0" name="Shape 78"/>
          <p:cNvSpPr/>
          <p:nvPr/>
        </p:nvSpPr>
        <p:spPr>
          <a:xfrm>
            <a:off x="1115568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1" name="Shape 79"/>
          <p:cNvSpPr/>
          <p:nvPr/>
        </p:nvSpPr>
        <p:spPr>
          <a:xfrm>
            <a:off x="1225296" y="4443984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2" name="Shape 80"/>
          <p:cNvSpPr/>
          <p:nvPr/>
        </p:nvSpPr>
        <p:spPr>
          <a:xfrm>
            <a:off x="457200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3" name="Shape 81"/>
          <p:cNvSpPr/>
          <p:nvPr/>
        </p:nvSpPr>
        <p:spPr>
          <a:xfrm>
            <a:off x="566928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4" name="Shape 82"/>
          <p:cNvSpPr/>
          <p:nvPr/>
        </p:nvSpPr>
        <p:spPr>
          <a:xfrm>
            <a:off x="676656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5" name="Shape 83"/>
          <p:cNvSpPr/>
          <p:nvPr/>
        </p:nvSpPr>
        <p:spPr>
          <a:xfrm>
            <a:off x="786384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6" name="Shape 84"/>
          <p:cNvSpPr/>
          <p:nvPr/>
        </p:nvSpPr>
        <p:spPr>
          <a:xfrm>
            <a:off x="896112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5840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8" name="Shape 86"/>
          <p:cNvSpPr/>
          <p:nvPr/>
        </p:nvSpPr>
        <p:spPr>
          <a:xfrm>
            <a:off x="1115568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9" name="Shape 87"/>
          <p:cNvSpPr/>
          <p:nvPr/>
        </p:nvSpPr>
        <p:spPr>
          <a:xfrm>
            <a:off x="1225296" y="4553712"/>
            <a:ext cx="32004" cy="3200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0" name="Text 88"/>
          <p:cNvSpPr/>
          <p:nvPr/>
        </p:nvSpPr>
        <p:spPr>
          <a:xfrm>
            <a:off x="3200400" y="731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</a:t>
            </a:r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2800" dirty="0"/>
          </a:p>
        </p:txBody>
      </p:sp>
      <p:sp>
        <p:nvSpPr>
          <p:cNvPr id="91" name="Text 89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2" name="Text 90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interest!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Take the Next Step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us on LinkedIn for the latest news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 security threats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560320" y="402336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6032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572000" y="4023360"/>
            <a:ext cx="2286000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www.yinkoshield.com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Hacking Africa's Payment Terminals</dc:title>
  <dc:subject>PptxGenJS Presentation</dc:subject>
  <dc:creator>YinkoShield</dc:creator>
  <cp:lastModifiedBy>YinkoShield</cp:lastModifiedBy>
  <cp:revision>1</cp:revision>
  <dcterms:created xsi:type="dcterms:W3CDTF">2026-03-27T13:27:28Z</dcterms:created>
  <dcterms:modified xsi:type="dcterms:W3CDTF">2026-03-27T13:27:28Z</dcterms:modified>
</cp:coreProperties>
</file>